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b879525147436f" /><Relationship Type="http://schemas.openxmlformats.org/officeDocument/2006/relationships/extended-properties" Target="/docProps/app.xml" Id="R2f7af3d1e87f4c05" /><Relationship Type="http://schemas.openxmlformats.org/officeDocument/2006/relationships/officeDocument" Target="/ppt/presentation.xml" Id="R891395aafded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9f579fe1c4cd6"/>
  </p:sldMasterIdLst>
  <p:notesMasterIdLst>
    <p:notesMasterId xmlns:r="http://schemas.openxmlformats.org/officeDocument/2006/relationships" r:id="R5950b1d04c4a437f"/>
  </p:notesMasterIdLst>
  <p:sldIdLst>
    <p:sldId xmlns:r="http://schemas.openxmlformats.org/officeDocument/2006/relationships" id="256" r:id="Rc3e346eaaf2340a1"/>
    <p:sldId xmlns:r="http://schemas.openxmlformats.org/officeDocument/2006/relationships" id="257" r:id="R0f18d13526dd451d"/>
    <p:sldId xmlns:r="http://schemas.openxmlformats.org/officeDocument/2006/relationships" id="258" r:id="R6635fb68a520410b"/>
    <p:sldId xmlns:r="http://schemas.openxmlformats.org/officeDocument/2006/relationships" id="259" r:id="R458eeef293ae46d0"/>
    <p:sldId xmlns:r="http://schemas.openxmlformats.org/officeDocument/2006/relationships" id="260" r:id="Rc39ef61dc1904b5d"/>
    <p:sldId xmlns:r="http://schemas.openxmlformats.org/officeDocument/2006/relationships" id="261" r:id="R9150361f5f564721"/>
    <p:sldId xmlns:r="http://schemas.openxmlformats.org/officeDocument/2006/relationships" id="262" r:id="Rc523623ac92740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bdb7db9454739" /><Relationship Type="http://schemas.openxmlformats.org/officeDocument/2006/relationships/slideMaster" Target="/ppt/slideMasters/slideMaster1.xml" Id="R65e9f579fe1c4cd6" /><Relationship Type="http://schemas.openxmlformats.org/officeDocument/2006/relationships/notesMaster" Target="/ppt/notesMasters/notesMaster1.xml" Id="R5950b1d04c4a437f" /><Relationship Type="http://schemas.openxmlformats.org/officeDocument/2006/relationships/presProps" Target="/ppt/presProps.xml" Id="R45bc3cc4b1844192" /><Relationship Type="http://schemas.openxmlformats.org/officeDocument/2006/relationships/tableStyles" Target="/ppt/tableStyles.xml" Id="Rd1e0604e16694317" /><Relationship Type="http://schemas.openxmlformats.org/officeDocument/2006/relationships/slide" Target="/ppt/slides/slide1.xml" Id="Rc3e346eaaf2340a1" /><Relationship Type="http://schemas.openxmlformats.org/officeDocument/2006/relationships/slide" Target="/ppt/slides/slide2.xml" Id="R0f18d13526dd451d" /><Relationship Type="http://schemas.openxmlformats.org/officeDocument/2006/relationships/slide" Target="/ppt/slides/slide3.xml" Id="R6635fb68a520410b" /><Relationship Type="http://schemas.openxmlformats.org/officeDocument/2006/relationships/slide" Target="/ppt/slides/slide4.xml" Id="R458eeef293ae46d0" /><Relationship Type="http://schemas.openxmlformats.org/officeDocument/2006/relationships/slide" Target="/ppt/slides/slide5.xml" Id="Rc39ef61dc1904b5d" /><Relationship Type="http://schemas.openxmlformats.org/officeDocument/2006/relationships/slide" Target="/ppt/slides/slide6.xml" Id="R9150361f5f564721" /><Relationship Type="http://schemas.openxmlformats.org/officeDocument/2006/relationships/slide" Target="/ppt/slides/slide7.xml" Id="Rc523623ac927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45ad31d60f4d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890867b2d461c" /><Relationship Type="http://schemas.openxmlformats.org/officeDocument/2006/relationships/notesMaster" Target="/ppt/notesMasters/notesMaster1.xml" Id="Rd6975863f891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5639d3ed344ec" /><Relationship Type="http://schemas.openxmlformats.org/officeDocument/2006/relationships/notesMaster" Target="/ppt/notesMasters/notesMaster1.xml" Id="Raf60836aab9f4f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4275f0681d417b" /><Relationship Type="http://schemas.openxmlformats.org/officeDocument/2006/relationships/notesMaster" Target="/ppt/notesMasters/notesMaster1.xml" Id="Rc2086041db5a44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11429cef5d4c54" /><Relationship Type="http://schemas.openxmlformats.org/officeDocument/2006/relationships/notesMaster" Target="/ppt/notesMasters/notesMaster1.xml" Id="R7efc9769660a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9955f46e94b5b" /><Relationship Type="http://schemas.openxmlformats.org/officeDocument/2006/relationships/notesMaster" Target="/ppt/notesMasters/notesMaster1.xml" Id="R722055563c1545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5422ec02d490c" /><Relationship Type="http://schemas.openxmlformats.org/officeDocument/2006/relationships/notesMaster" Target="/ppt/notesMasters/notesMaster1.xml" Id="R91808b6bac5a45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466f1267894dac" /><Relationship Type="http://schemas.openxmlformats.org/officeDocument/2006/relationships/notesMaster" Target="/ppt/notesMasters/notesMaster1.xml" Id="Rc8729f552a4545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local MVP. Public release materials prepared for the Meteora DBC track. Source: CurveLab implementation and locally verified SDK results, 7 October 2026. Official SDK: https://github.com/MeteoraAg/dynamic-bonding-curve-sdk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CurveLab implementation and locally verified SDK results, 7 October 2026. Official SDK: https://github.com/MeteoraAg/dynamic-bonding-curve-sdk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CurveLab implementation and locally verified SDK results, 7 October 2026. Official SDK: https://github.com/MeteoraAg/dynamic-bonding-curve-sdk Inputs: 1B token supply, initial market cap 30 SOL, graduation market cap 300 SOL, fixed fee 1%, 1% leftover parameter. Quote reserves are SDK-computed, not USD values or committed funding.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CurveLab implementation and locally verified SDK results, 7 October 2026. Official SDK: https://github.com/MeteoraAg/dynamic-bonding-curve-sdk Scenario: buy 1 SOL, buy 2 SOL, sell 1,000,000 TOKEN, buy 5 SOL. Single simulated trader, fixed fees, no external trading, MEV or network fees.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CurveLab implementation and locally verified SDK results, 7 October 2026. Official SDK: https://github.com/MeteoraAg/dynamic-bonding-curve-sdk Screenshot of the actual local CurveLab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CurveLab implementation and locally verified SDK results, 7 October 2026. Official SDK: https://github.com/MeteoraAg/dynamic-bonding-curve-sdk Confirmed: six engine tests, five HTTP API checks, TypeScript and Vite build, browser scenario, Devnet RPC, SDK two-instruction creation transaction. Not confirmed: onchain creation, real swaps, DAMM v2 migration. Faucet error prevented funded smoke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CurveLab implementation and locally verified SDK results, 7 October 2026. Official SDK: https://github.com/MeteoraAg/dynamic-bonding-curve-sdk Dependency audit records 13 upstream findings: 6 high, 7 moderate. No mainnet deployment or traction claimed. Future model is a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8f149ba39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8881f65d847e9" /><Relationship Type="http://schemas.openxmlformats.org/officeDocument/2006/relationships/slideLayout" Target="/ppt/slideLayouts/slideLayout1.xml" Id="R8c0d8c2879cd46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d8c2879cd46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8c2078964f9d" /><Relationship Type="http://schemas.openxmlformats.org/officeDocument/2006/relationships/notesSlide" Target="/ppt/notesSlides/notesSlide1.xml" Id="Rf1ca6c2191484e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36c5da73d4a9a" /><Relationship Type="http://schemas.openxmlformats.org/officeDocument/2006/relationships/notesSlide" Target="/ppt/notesSlides/notesSlide2.xml" Id="R84503dd449f245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69eaa06cf4f55" /><Relationship Type="http://schemas.openxmlformats.org/officeDocument/2006/relationships/chart" Target="/ppt/slides/charts/chart1.xml" Id="Re44e32cd9ff245e7" /><Relationship Type="http://schemas.openxmlformats.org/officeDocument/2006/relationships/notesSlide" Target="/ppt/notesSlides/notesSlide3.xml" Id="R5a46d6db3d8748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32b03b2444b65" /><Relationship Type="http://schemas.openxmlformats.org/officeDocument/2006/relationships/notesSlide" Target="/ppt/notesSlides/notesSlide4.xml" Id="Re3e03fd8fb34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f697d7585404c" /><Relationship Type="http://schemas.openxmlformats.org/officeDocument/2006/relationships/image" Target="/ppt/media/image.jpeg" Id="R3b86de3e73ea4d15" /><Relationship Type="http://schemas.openxmlformats.org/officeDocument/2006/relationships/notesSlide" Target="/ppt/notesSlides/notesSlide5.xml" Id="Rf6f190037c164c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6674a20c5449f" /><Relationship Type="http://schemas.openxmlformats.org/officeDocument/2006/relationships/notesSlide" Target="/ppt/notesSlides/notesSlide6.xml" Id="R3db8c999f15546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319c68aa4ab0" /><Relationship Type="http://schemas.openxmlformats.org/officeDocument/2006/relationships/notesSlide" Target="/ppt/notesSlides/notesSlide7.xml" Id="R6eec415d476f41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Graduation reserve (SOL)</c:v>
          </c:tx>
          <c:spPr>
            <a:solidFill xmlns:a="http://schemas.openxmlformats.org/drawingml/2006/main">
              <a:srgbClr val="B1EF68"/>
            </a:solidFill>
          </c:spPr>
          <c:cat>
            <c:strRef>
              <c:f>'Chart Data'!$A$2:$A$4</c:f>
              <c:strCache>
                <c:ptCount val="3"/>
                <c:pt idx="0">
                  <c:v>Balanced</c:v>
                </c:pt>
                <c:pt idx="1">
                  <c:v>Patient launch</c:v>
                </c:pt>
                <c:pt idx="2">
                  <c:v>Momentum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71.355</c:v>
                </c:pt>
                <c:pt idx="1">
                  <c:v>51.535</c:v>
                </c:pt>
                <c:pt idx="2">
                  <c:v>95.822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11710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1171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2DB2F-2CDC-480C-B797-577BABF4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B1EF68"/>
                </a:solidFill>
                <a:latin typeface="Arial"/>
                <a:ea typeface="Arial"/>
                <a:cs typeface="Arial"/>
              </a:rPr>
              <a:t>CurveLab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8B345-646A-44A8-A9D6-57AE27F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A launch-design workspace for Meteora DBC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24710-7C20-43A4-BB7D-6D1CA45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Crypto World’s Fair · Meteora DBC track</a:t>
            </a:r>
          </a:p>
        </p:txBody>
      </p:sp>
    </p:spTree>
    <p:extLst>
      <p:ext uri="{BB962C8B-B14F-4D97-AF65-F5344CB8AC3E}">
        <p14:creationId xmlns:p14="http://schemas.microsoft.com/office/powerpoint/2010/main" val="304446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B7A5B-1C34-4559-8F43-C49C08F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1E9DA"/>
                </a:solidFill>
                <a:latin typeface="Arial"/>
                <a:ea typeface="Arial"/>
                <a:cs typeface="Arial"/>
              </a:rPr>
              <a:t>The launch configuration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8FB4-AB6B-40D7-9DFF-04537460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CurveLab  /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907A7-A8AF-4B25-A441-017D77D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A curve sets the terms of early participation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A81FD-07A5-42B3-9C64-B5AD511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Launchpad builders must understand how liquidity distribution changes price movement and graduation capital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E32A8-F26E-48D2-99A9-3D053429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CurveLab makes these choices observable before a builder signs a launch transaction.</a:t>
            </a:r>
          </a:p>
        </p:txBody>
      </p:sp>
    </p:spTree>
    <p:extLst>
      <p:ext uri="{BB962C8B-B14F-4D97-AF65-F5344CB8AC3E}">
        <p14:creationId xmlns:p14="http://schemas.microsoft.com/office/powerpoint/2010/main" val="1938720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205D2-84BB-4459-9C53-5F04AEC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1E9DA"/>
                </a:solidFill>
                <a:latin typeface="Arial"/>
                <a:ea typeface="Arial"/>
                <a:cs typeface="Arial"/>
              </a:rPr>
              <a:t>Graduation reserves depend on the curve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DB36C-E73A-42E1-9E29-C7FBF98B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CurveLab  /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7FA64-10C1-4FF9-B103-B7F364E1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Same supply and market-cap targets; different liquidity weights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62000" y="2152650"/>
          <a:ext xmlns:a="http://schemas.openxmlformats.org/drawingml/2006/main" cx="6858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4e32cd9ff245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0CE22-D566-4B92-9367-2E929DF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1B TOKEN</a:t>
            </a:r>
          </a:p>
          <a:p xmlns:a="http://schemas.openxmlformats.org/drawingml/2006/main">
            <a:pPr>
              <a:defRPr sz="217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30 → 300 SOL market cap</a:t>
            </a:r>
          </a:p>
          <a:p xmlns:a="http://schemas.openxmlformats.org/drawingml/2006/main">
            <a:pPr>
              <a:defRPr sz="217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1% fixed DBC fee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8AF85-EA31-4878-BBD9-23F3B49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SOL quote reserves</a:t>
            </a:r>
          </a:p>
          <a:p xmlns:a="http://schemas.openxmlformats.org/drawingml/2006/main">
            <a:pPr>
              <a:defRPr sz="18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Calculated by the official SDK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632AD-DB48-47A3-B81E-FC0C95B1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Balanced = equal weights   ·   Patient = more early liquidity   ·   Momentum = more late liquidity</a:t>
            </a:r>
          </a:p>
        </p:txBody>
      </p:sp>
    </p:spTree>
    <p:extLst>
      <p:ext uri="{BB962C8B-B14F-4D97-AF65-F5344CB8AC3E}">
        <p14:creationId xmlns:p14="http://schemas.microsoft.com/office/powerpoint/2010/main" val="2112717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371F3-2A0A-4CB6-9DB8-1AE6F45E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1E9DA"/>
                </a:solidFill>
                <a:latin typeface="Arial"/>
                <a:ea typeface="Arial"/>
                <a:cs typeface="Arial"/>
              </a:rPr>
              <a:t>Identical trades expose different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60B4D-1E81-497C-A70B-27088A5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CurveLab  /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B244F-5CD8-41F2-B93F-EF7D6687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Buy 1 SOL → Buy 2 SOL → Sell 1M TOKEN → Buy 5 SOL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DD759-9AF3-4786-A3EE-07A42487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Balanced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34A6-4F5D-48CE-B89C-AC0BDAD0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B1EF68"/>
                </a:solidFill>
                <a:latin typeface="Arial"/>
                <a:ea typeface="Arial"/>
                <a:cs typeface="Arial"/>
              </a:rPr>
              <a:t>212.1M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AFB23-13CD-4C7A-A454-5D58E8E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TOKEN held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315BC-6012-4D0E-A44A-A8B316E2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11.05% graduation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11140-2FD6-47CA-A453-A99A74A8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479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Patient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E2B96-8D5A-4327-A0DE-0983499E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8137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79BD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79BDFF"/>
                </a:solidFill>
                <a:latin typeface="Arial"/>
                <a:ea typeface="Arial"/>
                <a:cs typeface="Arial"/>
              </a:rPr>
              <a:t>236.6M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9FF7A-2663-40F4-8FA3-CB7FEEB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48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TOKEN held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67EB-BCCF-4BBF-9664-2A180906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291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15.30% graduation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B60FF-0F17-40C1-A150-676B55E4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Momentum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57DFA-A74D-4572-9A67-0C5640D5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AD79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AD79"/>
                </a:solidFill>
                <a:latin typeface="Arial"/>
                <a:ea typeface="Arial"/>
                <a:cs typeface="Arial"/>
              </a:rPr>
              <a:t>161.0M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200EC-41BF-4073-9C4C-9CA25E67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8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TOKEN held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BCE4D-7D5B-4AC5-8283-8CD7FFC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8.22% graduation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CE9DF-EF0E-4C9D-97DA-A829650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Official SDK swap quotes · reproducible JSON exports · simulation only</a:t>
            </a:r>
          </a:p>
        </p:txBody>
      </p:sp>
    </p:spTree>
    <p:extLst>
      <p:ext uri="{BB962C8B-B14F-4D97-AF65-F5344CB8AC3E}">
        <p14:creationId xmlns:p14="http://schemas.microsoft.com/office/powerpoint/2010/main" val="1122241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B1187-2407-4CED-9883-F0FBFE10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1E9DA"/>
                </a:solidFill>
                <a:latin typeface="Arial"/>
                <a:ea typeface="Arial"/>
                <a:cs typeface="Arial"/>
              </a:rPr>
              <a:t>The working design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9B149-507E-4464-8F90-F0334C3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CurveLab  /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6de3e73ea4d15"/>
          <a:stretch xmlns:a="http://schemas.openxmlformats.org/drawingml/2006/main"/>
        </p:blipFill>
        <p:spPr>
          <a:xfrm xmlns:a="http://schemas.openxmlformats.org/drawingml/2006/main">
            <a:off x="7557470" y="1428750"/>
            <a:ext cx="288731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2BB15-15E9-4860-AE9B-EE153A9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Adjust launch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B2455-E99F-42B3-9825-69D39FF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334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Compare three SDK configurations</a:t>
            </a:r>
          </a:p>
          <a:p xmlns:a="http://schemas.openxmlformats.org/drawingml/2006/main">
            <a:pPr>
              <a:defRPr sz="217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Inspect the price-discovery curves</a:t>
            </a:r>
          </a:p>
          <a:p xmlns:a="http://schemas.openxmlformats.org/drawingml/2006/main">
            <a:pPr>
              <a:defRPr sz="2175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Export parameters and experiment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2BBAF-332E-4227-BC0C-00CD7CD0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React frontend + local Node API</a:t>
            </a:r>
          </a:p>
        </p:txBody>
      </p:sp>
    </p:spTree>
    <p:extLst>
      <p:ext uri="{BB962C8B-B14F-4D97-AF65-F5344CB8AC3E}">
        <p14:creationId xmlns:p14="http://schemas.microsoft.com/office/powerpoint/2010/main" val="75004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0F0A7-70A6-49A6-A4A9-4AE16B6D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1E9DA"/>
                </a:solidFill>
                <a:latin typeface="Arial"/>
                <a:ea typeface="Arial"/>
                <a:cs typeface="Arial"/>
              </a:rPr>
              <a:t>Meteora integration and current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04C79-CABF-49D3-BB3C-503080C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CurveLab  /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366F8-79D4-47FD-8CE5-D8E49FE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Official DBC SDK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BF006-F06C-4533-8584-703D0CC4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buildCurveWithLiquidityWeights → quote and scenario math → configuration and pool-creation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20852-2541-41FD-B3CB-D1237B7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Devnet launch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6A3DD-C210-44A0-8339-11F8F66C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Phantom signature, preflight, confirmation and pool lookup are implemented. Configurations target DAMM v2; migration uses the official manual migrator.</a:t>
            </a:r>
          </a:p>
        </p:txBody>
      </p:sp>
    </p:spTree>
    <p:extLst>
      <p:ext uri="{BB962C8B-B14F-4D97-AF65-F5344CB8AC3E}">
        <p14:creationId xmlns:p14="http://schemas.microsoft.com/office/powerpoint/2010/main" val="1705826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6F9BB-1EB5-49AD-AE45-1D1AB0C1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1E9DA"/>
                </a:solidFill>
                <a:latin typeface="Arial"/>
                <a:ea typeface="Arial"/>
                <a:cs typeface="Arial"/>
              </a:rPr>
              <a:t>Release status and 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40514-D5FA-4308-804C-81AF820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CurveLab  /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9D723-BB54-4265-B783-4C891A6A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Verified local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6BD05-EBB5-4FD1-A8D6-F9FE43E7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SDK curve generation and simulations work. Tests, build and browser checks pass.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A1C1D-E4CC-4661-98C5-3DA5C14E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B1EF6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1EF68"/>
                </a:solidFill>
                <a:latin typeface="Arial"/>
                <a:ea typeface="Arial"/>
                <a:cs typeface="Arial"/>
              </a:rPr>
              <a:t>Chain validation remains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26357-DDCB-469B-A505-47E3FD73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1E9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1E9DA"/>
                </a:solidFill>
                <a:latin typeface="Arial"/>
                <a:ea typeface="Arial"/>
                <a:cs typeface="Arial"/>
              </a:rPr>
              <a:t>A Devnet faucet error blocked funded pool creation. No confirmed launch or DAMM migration is claimed. Upstream dependency findings remain documented.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29DEF-5A2A-4210-A926-8327DC04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1AF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1AF96"/>
                </a:solidFill>
                <a:latin typeface="Arial"/>
                <a:ea typeface="Arial"/>
                <a:cs typeface="Arial"/>
              </a:rPr>
              <a:t>Next: funded Devnet lifecycle → launchpad-builder feedback → broader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380292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2026-10-07T15:42:58.9600000Z</dcterms:created>
  <dcterms:modified xsi:type="dcterms:W3CDTF">2026-10-07T15:42:58.9600000Z</dcterms:modified>
</coreProperties>
</file>